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E9E62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08A2B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Venda IN</c:v>
                </c:pt>
                <c:pt idx="1">
                  <c:v>Venda OUT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786</c:v>
                </c:pt>
                <c:pt idx="1">
                  <c:v>224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  <a:latin typeface="Consolas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E9E62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08A2B"/>
              </a:solidFill>
              <a:ln w="254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29A2E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Venda IN</c:v>
                </c:pt>
                <c:pt idx="1">
                  <c:v>Venda OUT</c:v>
                </c:pt>
                <c:pt idx="2">
                  <c:v>A faturar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786</c:v>
                </c:pt>
                <c:pt idx="1">
                  <c:v>224</c:v>
                </c:pt>
                <c:pt idx="2">
                  <c:v>152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  <a:latin typeface="Consolas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E6FA3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E9E62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Produção</c:v>
                </c:pt>
                <c:pt idx="1">
                  <c:v>Venda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1444</c:v>
                </c:pt>
                <c:pt idx="1">
                  <c:v>1162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  <a:latin typeface="Consolas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B0DAC3"/>
              </a:solidFill>
              <a:ln>
                <a:noFill/>
              </a:ln>
            </c:spPr>
          </c:dPt>
          <c:dPt>
            <c:idx val="1"/>
            <c:spPr>
              <a:solidFill>
                <a:srgbClr val="9FD3B7"/>
              </a:solidFill>
              <a:ln>
                <a:noFill/>
              </a:ln>
            </c:spPr>
          </c:dPt>
          <c:dPt>
            <c:idx val="2"/>
            <c:spPr>
              <a:solidFill>
                <a:srgbClr val="8FCBAB"/>
              </a:solidFill>
              <a:ln>
                <a:noFill/>
              </a:ln>
            </c:spPr>
          </c:dPt>
          <c:dPt>
            <c:idx val="3"/>
            <c:spPr>
              <a:solidFill>
                <a:srgbClr val="7FC49F"/>
              </a:solidFill>
              <a:ln>
                <a:noFill/>
              </a:ln>
            </c:spPr>
          </c:dPt>
          <c:dPt>
            <c:idx val="4"/>
            <c:spPr>
              <a:solidFill>
                <a:srgbClr val="6FBC93"/>
              </a:solidFill>
              <a:ln>
                <a:noFill/>
              </a:ln>
            </c:spPr>
          </c:dPt>
          <c:dPt>
            <c:idx val="5"/>
            <c:spPr>
              <a:solidFill>
                <a:srgbClr val="5FB587"/>
              </a:solidFill>
              <a:ln>
                <a:noFill/>
              </a:ln>
            </c:spPr>
          </c:dPt>
          <c:dPt>
            <c:idx val="6"/>
            <c:spPr>
              <a:solidFill>
                <a:srgbClr val="4EAD7A"/>
              </a:solidFill>
              <a:ln>
                <a:noFill/>
              </a:ln>
            </c:spPr>
          </c:dPt>
          <c:dPt>
            <c:idx val="7"/>
            <c:spPr>
              <a:solidFill>
                <a:srgbClr val="3EA66E"/>
              </a:solidFill>
              <a:ln>
                <a:noFill/>
              </a:ln>
            </c:spPr>
          </c:dPt>
          <c:dPt>
            <c:idx val="8"/>
            <c:spPr>
              <a:solidFill>
                <a:srgbClr val="2E9E62"/>
              </a:solidFill>
              <a:ln>
                <a:noFill/>
              </a:ln>
            </c:spPr>
          </c:dPt>
          <c:cat>
            <c:strRef>
              <c:f>Sheet1!$A$2:$A$10</c:f>
              <c:strCache>
                <c:ptCount val="9"/>
                <c:pt idx="0">
                  <c:v>El Poncio Ignite Kretec Mint</c:v>
                </c:pt>
                <c:pt idx="1">
                  <c:v>Cretec CE TT</c:v>
                </c:pt>
                <c:pt idx="2">
                  <c:v>Cretec Menthol TT</c:v>
                </c:pt>
                <c:pt idx="3">
                  <c:v>Clean Click</c:v>
                </c:pt>
                <c:pt idx="4">
                  <c:v>El Poncio Gudang Garam Twin Ten Red</c:v>
                </c:pt>
                <c:pt idx="5">
                  <c:v>El Poncio Cretec Cereja</c:v>
                </c:pt>
                <c:pt idx="6">
                  <c:v>El Poncio Gudang Garam Green</c:v>
                </c:pt>
                <c:pt idx="7">
                  <c:v>El Poncio Cretec Menta</c:v>
                </c:pt>
                <c:pt idx="8">
                  <c:v>El Poncio Gudang Garam Red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</c:v>
                </c:pt>
                <c:pt idx="5">
                  <c:v>41</c:v>
                </c:pt>
                <c:pt idx="6">
                  <c:v>63</c:v>
                </c:pt>
                <c:pt idx="7">
                  <c:v>90</c:v>
                </c:pt>
                <c:pt idx="8">
                  <c:v>580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6242D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D4DEE1"/>
            </a:solidFill>
          </a:ln>
        </c:spPr>
        <c:txPr>
          <a:bodyPr/>
          <a:lstStyle/>
          <a:p>
            <a:pPr>
              <a:defRPr sz="1100">
                <a:solidFill>
                  <a:srgbClr val="3A4A52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84.4"/>
          <c:min val="0.0"/>
        </c:scaling>
        <c:delete/>
        <c:axPos val="b"/>
        <c:majorTickMark val="none"/>
        <c:minorTickMark val="none"/>
        <c:tickLblPos val="none"/>
        <c:crossAx val="-2068027336"/>
        <c:crosses val="autoZero"/>
        <c:spPr>
          <a:ln>
            <a:noFill/>
          </a:ln>
        </c:spPr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F3D3AE"/>
              </a:solidFill>
              <a:ln>
                <a:noFill/>
              </a:ln>
            </c:spPr>
          </c:dPt>
          <c:dPt>
            <c:idx val="1"/>
            <c:spPr>
              <a:solidFill>
                <a:srgbClr val="F1C99E"/>
              </a:solidFill>
              <a:ln>
                <a:noFill/>
              </a:ln>
            </c:spPr>
          </c:dPt>
          <c:dPt>
            <c:idx val="2"/>
            <c:spPr>
              <a:solidFill>
                <a:srgbClr val="EEC08E"/>
              </a:solidFill>
              <a:ln>
                <a:noFill/>
              </a:ln>
            </c:spPr>
          </c:dPt>
          <c:dPt>
            <c:idx val="3"/>
            <c:spPr>
              <a:solidFill>
                <a:srgbClr val="ECB77D"/>
              </a:solidFill>
              <a:ln>
                <a:noFill/>
              </a:ln>
            </c:spPr>
          </c:dPt>
          <c:dPt>
            <c:idx val="4"/>
            <c:spPr>
              <a:solidFill>
                <a:srgbClr val="EAAE6D"/>
              </a:solidFill>
              <a:ln>
                <a:noFill/>
              </a:ln>
            </c:spPr>
          </c:dPt>
          <c:dPt>
            <c:idx val="5"/>
            <c:spPr>
              <a:solidFill>
                <a:srgbClr val="E7A55C"/>
              </a:solidFill>
              <a:ln>
                <a:noFill/>
              </a:ln>
            </c:spPr>
          </c:dPt>
          <c:dPt>
            <c:idx val="6"/>
            <c:spPr>
              <a:solidFill>
                <a:srgbClr val="E59C4C"/>
              </a:solidFill>
              <a:ln>
                <a:noFill/>
              </a:ln>
            </c:spPr>
          </c:dPt>
          <c:dPt>
            <c:idx val="7"/>
            <c:spPr>
              <a:solidFill>
                <a:srgbClr val="E2933B"/>
              </a:solidFill>
              <a:ln>
                <a:noFill/>
              </a:ln>
            </c:spPr>
          </c:dPt>
          <c:dPt>
            <c:idx val="8"/>
            <c:spPr>
              <a:solidFill>
                <a:srgbClr val="E08A2B"/>
              </a:solidFill>
              <a:ln>
                <a:noFill/>
              </a:ln>
            </c:spPr>
          </c:dPt>
          <c:cat>
            <c:strRef>
              <c:f>Sheet1!$A$2:$A$10</c:f>
              <c:strCache>
                <c:ptCount val="9"/>
                <c:pt idx="0">
                  <c:v>El Poncio Cretec Cereja</c:v>
                </c:pt>
                <c:pt idx="1">
                  <c:v>El Poncio Gudang Garam Twin Ten Red</c:v>
                </c:pt>
                <c:pt idx="2">
                  <c:v>El Poncio Ignite Kretec Mint</c:v>
                </c:pt>
                <c:pt idx="3">
                  <c:v>Cretec CE TT</c:v>
                </c:pt>
                <c:pt idx="4">
                  <c:v>Cretec Menthol TT</c:v>
                </c:pt>
                <c:pt idx="5">
                  <c:v>Clean Click</c:v>
                </c:pt>
                <c:pt idx="6">
                  <c:v>El Poncio Gudang Garam Green</c:v>
                </c:pt>
                <c:pt idx="7">
                  <c:v>El Poncio Cretec Menta</c:v>
                </c:pt>
                <c:pt idx="8">
                  <c:v>El Poncio Gudang Garam Red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30</c:v>
                </c:pt>
                <c:pt idx="7">
                  <c:v>74</c:v>
                </c:pt>
                <c:pt idx="8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6242D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D4DEE1"/>
            </a:solidFill>
          </a:ln>
        </c:spPr>
        <c:txPr>
          <a:bodyPr/>
          <a:lstStyle/>
          <a:p>
            <a:pPr>
              <a:defRPr sz="1100">
                <a:solidFill>
                  <a:srgbClr val="3A4A52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1.6"/>
          <c:min val="0.0"/>
        </c:scaling>
        <c:delete/>
        <c:axPos val="b"/>
        <c:majorTickMark val="none"/>
        <c:minorTickMark val="none"/>
        <c:tickLblPos val="none"/>
        <c:crossAx val="-2068027336"/>
        <c:crosses val="autoZero"/>
        <c:spPr>
          <a:ln>
            <a:noFill/>
          </a:ln>
        </c:spPr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B0C8DC"/>
              </a:solidFill>
              <a:ln>
                <a:noFill/>
              </a:ln>
            </c:spPr>
          </c:dPt>
          <c:dPt>
            <c:idx val="1"/>
            <c:spPr>
              <a:solidFill>
                <a:srgbClr val="9FBDD5"/>
              </a:solidFill>
              <a:ln>
                <a:noFill/>
              </a:ln>
            </c:spPr>
          </c:dPt>
          <c:dPt>
            <c:idx val="2"/>
            <c:spPr>
              <a:solidFill>
                <a:srgbClr val="8FB2CE"/>
              </a:solidFill>
              <a:ln>
                <a:noFill/>
              </a:ln>
            </c:spPr>
          </c:dPt>
          <c:dPt>
            <c:idx val="3"/>
            <c:spPr>
              <a:solidFill>
                <a:srgbClr val="7FA7C7"/>
              </a:solidFill>
              <a:ln>
                <a:noFill/>
              </a:ln>
            </c:spPr>
          </c:dPt>
          <c:dPt>
            <c:idx val="4"/>
            <c:spPr>
              <a:solidFill>
                <a:srgbClr val="6F9CC0"/>
              </a:solidFill>
              <a:ln>
                <a:noFill/>
              </a:ln>
            </c:spPr>
          </c:dPt>
          <c:dPt>
            <c:idx val="5"/>
            <c:spPr>
              <a:solidFill>
                <a:srgbClr val="5F90B8"/>
              </a:solidFill>
              <a:ln>
                <a:noFill/>
              </a:ln>
            </c:spPr>
          </c:dPt>
          <c:dPt>
            <c:idx val="6"/>
            <c:spPr>
              <a:solidFill>
                <a:srgbClr val="4E85B1"/>
              </a:solidFill>
              <a:ln>
                <a:noFill/>
              </a:ln>
            </c:spPr>
          </c:dPt>
          <c:dPt>
            <c:idx val="7"/>
            <c:spPr>
              <a:solidFill>
                <a:srgbClr val="3E7AAA"/>
              </a:solidFill>
              <a:ln>
                <a:noFill/>
              </a:ln>
            </c:spPr>
          </c:dPt>
          <c:dPt>
            <c:idx val="8"/>
            <c:spPr>
              <a:solidFill>
                <a:srgbClr val="2E6FA3"/>
              </a:solidFill>
              <a:ln>
                <a:noFill/>
              </a:ln>
            </c:spPr>
          </c:dPt>
          <c:cat>
            <c:strRef>
              <c:f>Sheet1!$A$2:$A$10</c:f>
              <c:strCache>
                <c:ptCount val="9"/>
                <c:pt idx="0">
                  <c:v>El Poncio Gudang Garam Twin Ten Red</c:v>
                </c:pt>
                <c:pt idx="1">
                  <c:v>El Poncio Ignite Kretec Mint</c:v>
                </c:pt>
                <c:pt idx="2">
                  <c:v>Cretec CE TT</c:v>
                </c:pt>
                <c:pt idx="3">
                  <c:v>Cretec Menthol TT</c:v>
                </c:pt>
                <c:pt idx="4">
                  <c:v>Clean Click</c:v>
                </c:pt>
                <c:pt idx="5">
                  <c:v>El Poncio Cretec Cereja</c:v>
                </c:pt>
                <c:pt idx="6">
                  <c:v>El Poncio Cretec Menta</c:v>
                </c:pt>
                <c:pt idx="7">
                  <c:v>El Poncio Gudang Garam Green</c:v>
                </c:pt>
                <c:pt idx="8">
                  <c:v>El Poncio Gudang Garam Red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6</c:v>
                </c:pt>
                <c:pt idx="6">
                  <c:v>57</c:v>
                </c:pt>
                <c:pt idx="7">
                  <c:v>102</c:v>
                </c:pt>
                <c:pt idx="8">
                  <c:v>1279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6242D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D4DEE1"/>
            </a:solidFill>
          </a:ln>
        </c:spPr>
        <c:txPr>
          <a:bodyPr/>
          <a:lstStyle/>
          <a:p>
            <a:pPr>
              <a:defRPr sz="1100">
                <a:solidFill>
                  <a:srgbClr val="3A4A52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9.22"/>
          <c:min val="0.0"/>
        </c:scaling>
        <c:delete/>
        <c:axPos val="b"/>
        <c:majorTickMark val="none"/>
        <c:minorTickMark val="none"/>
        <c:tickLblPos val="none"/>
        <c:crossAx val="-2068027336"/>
        <c:crosses val="autoZero"/>
        <c:spPr>
          <a:ln>
            <a:noFill/>
          </a:ln>
        </c:spPr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0A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10058400" y="4480560"/>
            <a:ext cx="2130552" cy="2377440"/>
          </a:xfrm>
          <a:prstGeom prst="rtTriangl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515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spc="400">
                <a:solidFill>
                  <a:srgbClr val="FFFFFF"/>
                </a:solidFill>
                <a:latin typeface="Segoe UI Semibold"/>
              </a:rPr>
              <a:t>CLEAN</a:t>
            </a:r>
            <a:r>
              <a:rPr sz="1600" b="1" spc="400">
                <a:solidFill>
                  <a:srgbClr val="9FC9CD"/>
                </a:solidFill>
                <a:latin typeface="Segoe UI Semibold"/>
              </a:rPr>
              <a:t>TABACO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54480"/>
            <a:ext cx="777240" cy="30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331720"/>
            <a:ext cx="7863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0">
                <a:solidFill>
                  <a:srgbClr val="BFD6D9"/>
                </a:solidFill>
                <a:latin typeface="Segoe UI Light"/>
              </a:rPr>
              <a:t>Relatório de</a:t>
            </a:r>
          </a:p>
          <a:p>
            <a:pPr algn="l">
              <a:lnSpc>
                <a:spcPct val="100000"/>
              </a:lnSpc>
            </a:pPr>
            <a:r>
              <a:rPr sz="4900" b="1">
                <a:solidFill>
                  <a:srgbClr val="FFFFFF"/>
                </a:solidFill>
                <a:latin typeface="Segoe UI Semibold"/>
              </a:rPr>
              <a:t>Vendas &amp; Produção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spc="200">
                <a:solidFill>
                  <a:srgbClr val="0E7C86"/>
                </a:solidFill>
                <a:latin typeface="Segoe UI Semibold"/>
              </a:rPr>
              <a:t>MAIO </a:t>
            </a:r>
            <a:r>
              <a:rPr sz="3000" b="0" spc="200">
                <a:solidFill>
                  <a:srgbClr val="9FC9CD"/>
                </a:solidFill>
                <a:latin typeface="Segoe UI Light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onsolas"/>
              </a:rPr>
              <a:t>1.162</a:t>
            </a:r>
          </a:p>
          <a:p>
            <a:pPr algn="l"/>
            <a:r>
              <a:rPr sz="1000" b="0" spc="150">
                <a:solidFill>
                  <a:srgbClr val="9FC9CD"/>
                </a:solidFill>
                <a:latin typeface="Segoe UI"/>
              </a:rPr>
              <a:t>VENDA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440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onsolas"/>
              </a:rPr>
              <a:t>1.444</a:t>
            </a:r>
          </a:p>
          <a:p>
            <a:pPr algn="l"/>
            <a:r>
              <a:rPr sz="1000" b="0" spc="150">
                <a:solidFill>
                  <a:srgbClr val="9FC9CD"/>
                </a:solidFill>
                <a:latin typeface="Segoe UI"/>
              </a:rPr>
              <a:t>PRODUÇÃO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440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onsolas"/>
              </a:rPr>
              <a:t>1.840</a:t>
            </a:r>
          </a:p>
          <a:p>
            <a:pPr algn="l"/>
            <a:r>
              <a:rPr sz="1000" b="0" spc="150">
                <a:solidFill>
                  <a:srgbClr val="9FC9CD"/>
                </a:solidFill>
                <a:latin typeface="Segoe UI"/>
              </a:rPr>
              <a:t>ESTOQUE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68580" cy="786384"/>
          </a:xfrm>
          <a:prstGeom prst="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42062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240">
                <a:solidFill>
                  <a:srgbClr val="2E9E62"/>
                </a:solidFill>
                <a:latin typeface="Segoe UI Semibold"/>
              </a:rPr>
              <a:t>COMERCIAL · MAIO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42D"/>
                </a:solidFill>
                <a:latin typeface="Segoe UI Semibold"/>
              </a:rPr>
              <a:t>Venda IN  ×  Venda OUT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691640"/>
          <a:ext cx="45720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65960" y="342900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6242D"/>
                </a:solidFill>
                <a:latin typeface="Consolas"/>
              </a:rPr>
              <a:t>1.010</a:t>
            </a:r>
          </a:p>
          <a:p>
            <a:pPr algn="ctr"/>
            <a:r>
              <a:rPr sz="1000" b="0" spc="150">
                <a:solidFill>
                  <a:srgbClr val="7C8B92"/>
                </a:solidFill>
                <a:latin typeface="Segoe UI"/>
              </a:rPr>
              <a:t>CAIXAS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828800"/>
            <a:ext cx="57607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1975104"/>
            <a:ext cx="64008" cy="1216152"/>
          </a:xfrm>
          <a:prstGeom prst="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199339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VENDA IN  ·  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249424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E9E62"/>
                </a:solidFill>
                <a:latin typeface="Consolas"/>
              </a:rPr>
              <a:t>786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295351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Volume já faturado no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3520440"/>
            <a:ext cx="57607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3666744"/>
            <a:ext cx="64008" cy="1216152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368503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VENDA OUT  ·  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3941064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E08A2B"/>
                </a:solidFill>
                <a:latin typeface="Consolas"/>
              </a:rPr>
              <a:t>224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464515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Saída de produtos no período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25780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C8B92"/>
                </a:solidFill>
                <a:latin typeface="Segoe UI"/>
              </a:rPr>
              <a:t>Relação IN/OUT  </a:t>
            </a:r>
            <a:r>
              <a:rPr sz="1300" b="1">
                <a:solidFill>
                  <a:srgbClr val="16242D"/>
                </a:solidFill>
                <a:latin typeface="Consolas"/>
              </a:rPr>
              <a:t>3,5×</a:t>
            </a:r>
            <a:r>
              <a:rPr sz="1100" b="0">
                <a:solidFill>
                  <a:srgbClr val="7C8B92"/>
                </a:solidFill>
                <a:latin typeface="Segoe UI"/>
              </a:rPr>
              <a:t>   —   a venda IN supera a OUT em 562 caixas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55664"/>
            <a:ext cx="11055096" cy="1143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0E7C86"/>
                </a:solidFill>
                <a:latin typeface="Segoe UI Semibold"/>
              </a:rPr>
              <a:t>CLEANTABACO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100">
                <a:solidFill>
                  <a:srgbClr val="7C8B92"/>
                </a:solidFill>
                <a:latin typeface="Segoe UI"/>
              </a:rPr>
              <a:t>RELATÓRIO MENSAL · MAIO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510528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16242D"/>
                </a:solidFill>
                <a:latin typeface="Consolas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68580" cy="786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42062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240">
                <a:solidFill>
                  <a:srgbClr val="0E7C86"/>
                </a:solidFill>
                <a:latin typeface="Segoe UI Semibold"/>
              </a:rPr>
              <a:t>COMERCIAL · MAIO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42D"/>
                </a:solidFill>
                <a:latin typeface="Segoe UI Semibold"/>
              </a:rPr>
              <a:t>Venda IN · Venda OUT · A Faturar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691640"/>
          <a:ext cx="45720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65960" y="342900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6242D"/>
                </a:solidFill>
                <a:latin typeface="Consolas"/>
              </a:rPr>
              <a:t>1.162</a:t>
            </a:r>
          </a:p>
          <a:p>
            <a:pPr algn="ctr"/>
            <a:r>
              <a:rPr sz="1000" b="0" spc="150">
                <a:solidFill>
                  <a:srgbClr val="7C8B92"/>
                </a:solidFill>
                <a:latin typeface="Segoe UI"/>
              </a:rPr>
              <a:t>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828800"/>
            <a:ext cx="5760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276856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242D"/>
                </a:solidFill>
                <a:latin typeface="Segoe UI"/>
              </a:rPr>
              <a:t>Venda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2402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>
                <a:solidFill>
                  <a:srgbClr val="16242D"/>
                </a:solidFill>
                <a:latin typeface="Consolas"/>
              </a:rPr>
              <a:t>786</a:t>
            </a:r>
            <a:r>
              <a:rPr sz="1100" b="0">
                <a:solidFill>
                  <a:srgbClr val="7C8B92"/>
                </a:solidFill>
                <a:latin typeface="Consolas"/>
              </a:rPr>
              <a:t>  68%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624328"/>
            <a:ext cx="5120640" cy="1016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293522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898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242D"/>
                </a:solidFill>
                <a:latin typeface="Segoe UI"/>
              </a:rPr>
              <a:t>Venda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8986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>
                <a:solidFill>
                  <a:srgbClr val="16242D"/>
                </a:solidFill>
                <a:latin typeface="Consolas"/>
              </a:rPr>
              <a:t>224</a:t>
            </a:r>
            <a:r>
              <a:rPr sz="1100" b="0">
                <a:solidFill>
                  <a:srgbClr val="7C8B92"/>
                </a:solidFill>
                <a:latin typeface="Consolas"/>
              </a:rPr>
              <a:t>  19%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282696"/>
            <a:ext cx="5120640" cy="1016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593592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C2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5570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242D"/>
                </a:solidFill>
                <a:latin typeface="Segoe UI"/>
              </a:rPr>
              <a:t>Venda IN a faturar (próx. mês)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5570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>
                <a:solidFill>
                  <a:srgbClr val="16242D"/>
                </a:solidFill>
                <a:latin typeface="Consolas"/>
              </a:rPr>
              <a:t>152</a:t>
            </a:r>
            <a:r>
              <a:rPr sz="1100" b="0">
                <a:solidFill>
                  <a:srgbClr val="7C8B92"/>
                </a:solidFill>
                <a:latin typeface="Consolas"/>
              </a:rPr>
              <a:t>  13%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941064"/>
            <a:ext cx="5120640" cy="1016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429768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16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2611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242D"/>
                </a:solidFill>
                <a:latin typeface="Segoe UI"/>
              </a:rPr>
              <a:t>Total geral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2611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>
                <a:solidFill>
                  <a:srgbClr val="16242D"/>
                </a:solidFill>
                <a:latin typeface="Consolas"/>
              </a:rPr>
              <a:t>1.162</a:t>
            </a:r>
            <a:r>
              <a:rPr sz="1100" b="0">
                <a:solidFill>
                  <a:srgbClr val="7C8B92"/>
                </a:solidFill>
                <a:latin typeface="Consolas"/>
              </a:rPr>
              <a:t>  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257800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C8B92"/>
                </a:solidFill>
                <a:latin typeface="Segoe UI"/>
              </a:rPr>
              <a:t>Inclui 152 caixas de venda IN previstas para faturamento no próximo mês.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55664"/>
            <a:ext cx="11055096" cy="1143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0E7C86"/>
                </a:solidFill>
                <a:latin typeface="Segoe UI Semibold"/>
              </a:rPr>
              <a:t>CLEANTABACO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100">
                <a:solidFill>
                  <a:srgbClr val="7C8B92"/>
                </a:solidFill>
                <a:latin typeface="Segoe UI"/>
              </a:rPr>
              <a:t>RELATÓRIO MENSAL · MAIO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510528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16242D"/>
                </a:solidFill>
                <a:latin typeface="Consolas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68580" cy="786384"/>
          </a:xfrm>
          <a:prstGeom prst="rect">
            <a:avLst/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42062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240">
                <a:solidFill>
                  <a:srgbClr val="2E6FA3"/>
                </a:solidFill>
                <a:latin typeface="Segoe UI Semibold"/>
              </a:rPr>
              <a:t>DESEMPENHO · MAIO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42D"/>
                </a:solidFill>
                <a:latin typeface="Segoe UI Semibold"/>
              </a:rPr>
              <a:t>Venda Total  ×  Produção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691640"/>
          <a:ext cx="45720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65960" y="3456432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6242D"/>
                </a:solidFill>
                <a:latin typeface="Consolas"/>
              </a:rPr>
              <a:t>2.606</a:t>
            </a:r>
          </a:p>
          <a:p>
            <a:pPr algn="ctr"/>
            <a:r>
              <a:rPr sz="900" b="0" spc="150">
                <a:solidFill>
                  <a:srgbClr val="7C8B92"/>
                </a:solidFill>
                <a:latin typeface="Segoe UI"/>
              </a:rPr>
              <a:t>SOMA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828800"/>
            <a:ext cx="57607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1975104"/>
            <a:ext cx="64008" cy="1216152"/>
          </a:xfrm>
          <a:prstGeom prst="rect">
            <a:avLst/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199339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PRODUÇÃO  ·  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249424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E6FA3"/>
                </a:solidFill>
                <a:latin typeface="Consolas"/>
              </a:rPr>
              <a:t>1.444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295351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Total produzido no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3520440"/>
            <a:ext cx="57607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3666744"/>
            <a:ext cx="64008" cy="1216152"/>
          </a:xfrm>
          <a:prstGeom prst="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368503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VENDA TOTAL  ·  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3941064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E9E62"/>
                </a:solidFill>
                <a:latin typeface="Consolas"/>
              </a:rPr>
              <a:t>1.162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464515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IN + OUT + a faturar (786 + 224 + 152)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25780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C8B92"/>
                </a:solidFill>
                <a:latin typeface="Segoe UI"/>
              </a:rPr>
              <a:t>Saldo produção − venda  </a:t>
            </a:r>
            <a:r>
              <a:rPr sz="1300" b="1">
                <a:solidFill>
                  <a:srgbClr val="2E6FA3"/>
                </a:solidFill>
                <a:latin typeface="Consolas"/>
              </a:rPr>
              <a:t>+282</a:t>
            </a:r>
            <a:r>
              <a:rPr sz="1100" b="0">
                <a:solidFill>
                  <a:srgbClr val="7C8B92"/>
                </a:solidFill>
                <a:latin typeface="Segoe UI"/>
              </a:rPr>
              <a:t>  caixas para estoque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55664"/>
            <a:ext cx="11055096" cy="1143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0E7C86"/>
                </a:solidFill>
                <a:latin typeface="Segoe UI Semibold"/>
              </a:rPr>
              <a:t>CLEANTABACO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100">
                <a:solidFill>
                  <a:srgbClr val="7C8B92"/>
                </a:solidFill>
                <a:latin typeface="Segoe UI"/>
              </a:rPr>
              <a:t>RELATÓRIO MENSAL · MAIO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510528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16242D"/>
                </a:solidFill>
                <a:latin typeface="Consolas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68580" cy="786384"/>
          </a:xfrm>
          <a:prstGeom prst="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42062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240">
                <a:solidFill>
                  <a:srgbClr val="2E9E62"/>
                </a:solidFill>
                <a:latin typeface="Segoe UI Semibold"/>
              </a:rPr>
              <a:t>COMERCIAL · MAIO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42D"/>
                </a:solidFill>
                <a:latin typeface="Segoe UI Semibold"/>
              </a:rPr>
              <a:t>Venda IN por Produto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7818120" cy="461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3232" y="1783080"/>
          <a:ext cx="7543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41080" y="1627632"/>
            <a:ext cx="29809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41080" y="1773936"/>
            <a:ext cx="64008" cy="1078992"/>
          </a:xfrm>
          <a:prstGeom prst="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7112" y="1792224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TOTAL DO 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2048256"/>
            <a:ext cx="2615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E9E62"/>
                </a:solidFill>
                <a:latin typeface="Consolas"/>
              </a:rPr>
              <a:t>786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2" y="2615184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caixas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3108960"/>
            <a:ext cx="29809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41080" y="3255264"/>
            <a:ext cx="64008" cy="1078992"/>
          </a:xfrm>
          <a:prstGeom prst="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3273552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LÍDER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3529584"/>
            <a:ext cx="2615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6242D"/>
                </a:solidFill>
                <a:latin typeface="Consolas"/>
              </a:rPr>
              <a:t>580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4096512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El Poncio Gudang Garam 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590288"/>
            <a:ext cx="29809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41080" y="4736592"/>
            <a:ext cx="64008" cy="1078992"/>
          </a:xfrm>
          <a:prstGeom prst="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7112" y="4754880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SKUS COM VENDA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5010912"/>
            <a:ext cx="2615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6242D"/>
                </a:solidFill>
                <a:latin typeface="Consolas"/>
              </a:rPr>
              <a:t>5/9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5577840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produtos ativos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55664"/>
            <a:ext cx="11055096" cy="1143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0E7C86"/>
                </a:solidFill>
                <a:latin typeface="Segoe UI Semibold"/>
              </a:rPr>
              <a:t>CLEANTABACO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100">
                <a:solidFill>
                  <a:srgbClr val="7C8B92"/>
                </a:solidFill>
                <a:latin typeface="Segoe UI"/>
              </a:rPr>
              <a:t>RELATÓRIO MENSAL · MAIO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510528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16242D"/>
                </a:solidFill>
                <a:latin typeface="Consolas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68580" cy="786384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42062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240">
                <a:solidFill>
                  <a:srgbClr val="E08A2B"/>
                </a:solidFill>
                <a:latin typeface="Segoe UI Semibold"/>
              </a:rPr>
              <a:t>COMERCIAL · MAIO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42D"/>
                </a:solidFill>
                <a:latin typeface="Segoe UI Semibold"/>
              </a:rPr>
              <a:t>Venda OUT por Produto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7818120" cy="461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3232" y="1783080"/>
          <a:ext cx="7543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41080" y="1627632"/>
            <a:ext cx="29809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41080" y="1773936"/>
            <a:ext cx="64008" cy="1078992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7112" y="1792224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TOTAL DO 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2048256"/>
            <a:ext cx="2615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E08A2B"/>
                </a:solidFill>
                <a:latin typeface="Consolas"/>
              </a:rPr>
              <a:t>224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2" y="2615184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caixas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3108960"/>
            <a:ext cx="29809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41080" y="3255264"/>
            <a:ext cx="64008" cy="1078992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3273552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LÍDER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3529584"/>
            <a:ext cx="2615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6242D"/>
                </a:solidFill>
                <a:latin typeface="Consolas"/>
              </a:rPr>
              <a:t>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4096512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El Poncio Gudang Garam 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590288"/>
            <a:ext cx="29809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41080" y="4736592"/>
            <a:ext cx="64008" cy="1078992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7112" y="4754880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SKUS COM VENDA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5010912"/>
            <a:ext cx="2615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6242D"/>
                </a:solidFill>
                <a:latin typeface="Consolas"/>
              </a:rPr>
              <a:t>3/9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5577840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produtos ativos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55664"/>
            <a:ext cx="11055096" cy="1143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0E7C86"/>
                </a:solidFill>
                <a:latin typeface="Segoe UI Semibold"/>
              </a:rPr>
              <a:t>CLEANTABACO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100">
                <a:solidFill>
                  <a:srgbClr val="7C8B92"/>
                </a:solidFill>
                <a:latin typeface="Segoe UI"/>
              </a:rPr>
              <a:t>RELATÓRIO MENSAL · MAIO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510528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16242D"/>
                </a:solidFill>
                <a:latin typeface="Consolas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68580" cy="786384"/>
          </a:xfrm>
          <a:prstGeom prst="rect">
            <a:avLst/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42062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240">
                <a:solidFill>
                  <a:srgbClr val="2E6FA3"/>
                </a:solidFill>
                <a:latin typeface="Segoe UI Semibold"/>
              </a:rPr>
              <a:t>PRODUÇÃO · MAIO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42D"/>
                </a:solidFill>
                <a:latin typeface="Segoe UI Semibold"/>
              </a:rPr>
              <a:t>Produção por Produto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7818120" cy="461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3232" y="1783080"/>
          <a:ext cx="7543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41080" y="1627632"/>
            <a:ext cx="29809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41080" y="1773936"/>
            <a:ext cx="64008" cy="1078992"/>
          </a:xfrm>
          <a:prstGeom prst="rect">
            <a:avLst/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7112" y="1792224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TOTAL DO 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2048256"/>
            <a:ext cx="2615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E6FA3"/>
                </a:solidFill>
                <a:latin typeface="Consolas"/>
              </a:rPr>
              <a:t>1.444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2" y="2615184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caixas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3108960"/>
            <a:ext cx="29809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41080" y="3255264"/>
            <a:ext cx="64008" cy="1078992"/>
          </a:xfrm>
          <a:prstGeom prst="rect">
            <a:avLst/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3273552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LÍDER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3529584"/>
            <a:ext cx="2615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6242D"/>
                </a:solidFill>
                <a:latin typeface="Consolas"/>
              </a:rPr>
              <a:t>1.279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4096512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El Poncio Gudang Garam 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590288"/>
            <a:ext cx="29809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</a:ln>
          <a:effectLst>
            <a:outerShdw blurRad="54864" dist="36576" dir="5400000" rotWithShape="0">
              <a:srgbClr val="1A2A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41080" y="4736592"/>
            <a:ext cx="64008" cy="1078992"/>
          </a:xfrm>
          <a:prstGeom prst="rect">
            <a:avLst/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7112" y="4754880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7C8B92"/>
                </a:solidFill>
                <a:latin typeface="Segoe UI Semibold"/>
              </a:rPr>
              <a:t>SKUS PRODUZIDOS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5010912"/>
            <a:ext cx="2615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6242D"/>
                </a:solidFill>
                <a:latin typeface="Consolas"/>
              </a:rPr>
              <a:t>4/9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5577840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A52"/>
                </a:solidFill>
                <a:latin typeface="Segoe UI"/>
              </a:rPr>
              <a:t>produtos ativos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55664"/>
            <a:ext cx="11055096" cy="1143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0E7C86"/>
                </a:solidFill>
                <a:latin typeface="Segoe UI Semibold"/>
              </a:rPr>
              <a:t>CLEANTABACO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100">
                <a:solidFill>
                  <a:srgbClr val="7C8B92"/>
                </a:solidFill>
                <a:latin typeface="Segoe UI"/>
              </a:rPr>
              <a:t>RELATÓRIO MENSAL · MAIO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510528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16242D"/>
                </a:solidFill>
                <a:latin typeface="Consolas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68580" cy="786384"/>
          </a:xfrm>
          <a:prstGeom prst="rect">
            <a:avLst/>
          </a:prstGeom>
          <a:solidFill>
            <a:srgbClr val="5B7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42062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240">
                <a:solidFill>
                  <a:srgbClr val="5B7079"/>
                </a:solidFill>
                <a:latin typeface="Segoe UI Semibold"/>
              </a:rPr>
              <a:t>ESTOQUE · MAIO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42D"/>
                </a:solidFill>
                <a:latin typeface="Segoe UI Semibold"/>
              </a:rPr>
              <a:t>Estoque Final — Matriz e Filial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11055096" cy="4096512"/>
        </p:xfrm>
        <a:graphic>
          <a:graphicData uri="http://schemas.openxmlformats.org/drawingml/2006/table">
            <a:tbl>
              <a:tblPr firstRow="0" bandRow="0"/>
              <a:tblGrid>
                <a:gridCol w="4572000"/>
                <a:gridCol w="1737360"/>
                <a:gridCol w="1737360"/>
                <a:gridCol w="1737360"/>
                <a:gridCol w="127101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MARCA</a:t>
                      </a:r>
                    </a:p>
                  </a:txBody>
                  <a:tcPr marL="73152" marR="73152" marT="18288" marB="18288" anchor="ctr">
                    <a:solidFill>
                      <a:srgbClr val="5B7079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MATRIZ</a:t>
                      </a:r>
                    </a:p>
                  </a:txBody>
                  <a:tcPr marL="73152" marR="73152" marT="18288" marB="18288" anchor="ctr">
                    <a:solidFill>
                      <a:srgbClr val="5B7079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FILIAL</a:t>
                      </a:r>
                    </a:p>
                  </a:txBody>
                  <a:tcPr marL="73152" marR="73152" marT="18288" marB="18288" anchor="ctr">
                    <a:solidFill>
                      <a:srgbClr val="5B7079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TOTAL</a:t>
                      </a:r>
                    </a:p>
                  </a:txBody>
                  <a:tcPr marL="73152" marR="73152" marT="18288" marB="18288" anchor="ctr">
                    <a:solidFill>
                      <a:srgbClr val="5B7079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PART. %</a:t>
                      </a:r>
                    </a:p>
                  </a:txBody>
                  <a:tcPr marL="73152" marR="73152" marT="18288" marB="18288" anchor="ctr">
                    <a:solidFill>
                      <a:srgbClr val="5B7079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42D"/>
                          </a:solidFill>
                          <a:latin typeface="Segoe UI"/>
                        </a:rPr>
                        <a:t>El Poncio Gudang 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1.494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107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6242D"/>
                          </a:solidFill>
                          <a:latin typeface="Consolas"/>
                        </a:rPr>
                        <a:t>1.601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C8B92"/>
                          </a:solidFill>
                          <a:latin typeface="Consolas"/>
                        </a:rPr>
                        <a:t>87,0%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42D"/>
                          </a:solidFill>
                          <a:latin typeface="Segoe UI"/>
                        </a:rPr>
                        <a:t>El Poncio Gudang Green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6242D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C8B92"/>
                          </a:solidFill>
                          <a:latin typeface="Consolas"/>
                        </a:rPr>
                        <a:t>0,5%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42D"/>
                          </a:solidFill>
                          <a:latin typeface="Segoe UI"/>
                        </a:rPr>
                        <a:t>Cretec Menthol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C8B92"/>
                          </a:solidFill>
                          <a:latin typeface="Consolas"/>
                        </a:rPr>
                        <a:t>0,0%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42D"/>
                          </a:solidFill>
                          <a:latin typeface="Segoe UI"/>
                        </a:rPr>
                        <a:t>Cretec Cereja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6242D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C8B92"/>
                          </a:solidFill>
                          <a:latin typeface="Consolas"/>
                        </a:rPr>
                        <a:t>0,3%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42D"/>
                          </a:solidFill>
                          <a:latin typeface="Segoe UI"/>
                        </a:rPr>
                        <a:t>Clean Click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6242D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C8B92"/>
                          </a:solidFill>
                          <a:latin typeface="Consolas"/>
                        </a:rPr>
                        <a:t>0,6%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42D"/>
                          </a:solidFill>
                          <a:latin typeface="Segoe UI"/>
                        </a:rPr>
                        <a:t>El Poncio Ignite Mint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105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6242D"/>
                          </a:solidFill>
                          <a:latin typeface="Consolas"/>
                        </a:rPr>
                        <a:t>105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C8B92"/>
                          </a:solidFill>
                          <a:latin typeface="Consolas"/>
                        </a:rPr>
                        <a:t>5,7%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42D"/>
                          </a:solidFill>
                          <a:latin typeface="Segoe UI"/>
                        </a:rPr>
                        <a:t>El Poncio Cretec Cereja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6242D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C8B92"/>
                          </a:solidFill>
                          <a:latin typeface="Consolas"/>
                        </a:rPr>
                        <a:t>0,1%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42D"/>
                          </a:solidFill>
                          <a:latin typeface="Segoe UI"/>
                        </a:rPr>
                        <a:t>El Poncio Cretec Menta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6242D"/>
                          </a:solidFill>
                          <a:latin typeface="Consolas"/>
                        </a:rPr>
                        <a:t>38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C8B92"/>
                          </a:solidFill>
                          <a:latin typeface="Consolas"/>
                        </a:rPr>
                        <a:t>2,1%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42D"/>
                          </a:solidFill>
                          <a:latin typeface="Segoe UI"/>
                        </a:rPr>
                        <a:t>El Poncio Gudang Twin Ten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69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6242D"/>
                          </a:solidFill>
                          <a:latin typeface="Consolas"/>
                        </a:rPr>
                        <a:t>69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C8B92"/>
                          </a:solidFill>
                          <a:latin typeface="Consolas"/>
                        </a:rPr>
                        <a:t>3,8%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TOTAL GERAL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1.690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150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1.840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onsolas"/>
                        </a:rPr>
                        <a:t>100%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6455664"/>
            <a:ext cx="11055096" cy="1143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0E7C86"/>
                </a:solidFill>
                <a:latin typeface="Segoe UI Semibold"/>
              </a:rPr>
              <a:t>CLEANTABACO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100">
                <a:solidFill>
                  <a:srgbClr val="7C8B92"/>
                </a:solidFill>
                <a:latin typeface="Segoe UI"/>
              </a:rPr>
              <a:t>RELATÓRIO MENSAL · MAIO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10528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16242D"/>
                </a:solidFill>
                <a:latin typeface="Consolas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68580" cy="786384"/>
          </a:xfrm>
          <a:prstGeom prst="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42062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240">
                <a:solidFill>
                  <a:srgbClr val="2E9E62"/>
                </a:solidFill>
                <a:latin typeface="Segoe UI Semibold"/>
              </a:rPr>
              <a:t>HISTÓRICO · VENDA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42D"/>
                </a:solidFill>
                <a:latin typeface="Segoe UI Semibold"/>
              </a:rPr>
              <a:t>Vendas IN — 2026 (Jan a Mai)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27632"/>
          <a:ext cx="10341864" cy="3813048"/>
        </p:xfrm>
        <a:graphic>
          <a:graphicData uri="http://schemas.openxmlformats.org/drawingml/2006/table">
            <a:tbl>
              <a:tblPr firstRow="0" bandRow="0"/>
              <a:tblGrid>
                <a:gridCol w="960120"/>
                <a:gridCol w="3246120"/>
                <a:gridCol w="713232"/>
                <a:gridCol w="713232"/>
                <a:gridCol w="713232"/>
                <a:gridCol w="713232"/>
                <a:gridCol w="713232"/>
                <a:gridCol w="1143000"/>
                <a:gridCol w="1426464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CÓD.</a:t>
                      </a:r>
                    </a:p>
                  </a:txBody>
                  <a:tcPr marL="73152" marR="73152" marT="18288" marB="18288" anchor="ctr">
                    <a:solidFill>
                      <a:srgbClr val="2E9E62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PRODUTO</a:t>
                      </a:r>
                    </a:p>
                  </a:txBody>
                  <a:tcPr marL="73152" marR="73152" marT="18288" marB="18288" anchor="ctr">
                    <a:solidFill>
                      <a:srgbClr val="2E9E62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JAN</a:t>
                      </a:r>
                    </a:p>
                  </a:txBody>
                  <a:tcPr marL="73152" marR="73152" marT="18288" marB="18288" anchor="ctr">
                    <a:solidFill>
                      <a:srgbClr val="2E9E62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FEV</a:t>
                      </a:r>
                    </a:p>
                  </a:txBody>
                  <a:tcPr marL="73152" marR="73152" marT="18288" marB="18288" anchor="ctr">
                    <a:solidFill>
                      <a:srgbClr val="2E9E62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MAR</a:t>
                      </a:r>
                    </a:p>
                  </a:txBody>
                  <a:tcPr marL="73152" marR="73152" marT="18288" marB="18288" anchor="ctr">
                    <a:solidFill>
                      <a:srgbClr val="2E9E62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ABR</a:t>
                      </a:r>
                    </a:p>
                  </a:txBody>
                  <a:tcPr marL="73152" marR="73152" marT="18288" marB="18288" anchor="ctr">
                    <a:solidFill>
                      <a:srgbClr val="2E9E62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MAI</a:t>
                      </a:r>
                    </a:p>
                  </a:txBody>
                  <a:tcPr marL="73152" marR="73152" marT="18288" marB="18288" anchor="ctr">
                    <a:solidFill>
                      <a:srgbClr val="2E9E62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CAIXAS</a:t>
                      </a:r>
                    </a:p>
                  </a:txBody>
                  <a:tcPr marL="73152" marR="73152" marT="18288" marB="18288" anchor="ctr">
                    <a:solidFill>
                      <a:srgbClr val="2E9E62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CARTEIRA (R$)</a:t>
                      </a:r>
                    </a:p>
                  </a:txBody>
                  <a:tcPr marL="73152" marR="73152" marT="18288" marB="18288" anchor="ctr">
                    <a:solidFill>
                      <a:srgbClr val="2E9E62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4386 / 4387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Gudang Garam 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701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570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778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1.137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580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3.766,00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1.807.680,00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4586 / 4587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Gudang Garam Green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89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89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63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63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464,00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222.720,00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4399 / 4400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Ignite Kretec Mint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1980 / 1966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Cretec CE TT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28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70,00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35.000,00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2780 / 2779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Cretec Menthol TT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81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212,00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106.000,00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4938 / 4939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Gudang Garam Twin Ten Red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–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26,00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13.000,00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4940 / 4941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Cretec Cereja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41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59,00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29.500,00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4942 / 4943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Cretec Menta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–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121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62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90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273,00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136.500,00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4113 / 4114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Clean Click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58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148,00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71.040,00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A4A52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TOTAL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995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741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1.058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1.438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786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5.018,00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2.421.440,00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263640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C8B92"/>
                </a:solidFill>
                <a:latin typeface="Segoe UI"/>
              </a:rPr>
              <a:t>Coluna MAI destacada · “–” indica produto ainda não lançado no mês · Carteira em R$.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55096" cy="1143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0E7C86"/>
                </a:solidFill>
                <a:latin typeface="Segoe UI Semibold"/>
              </a:rPr>
              <a:t>CLEANTABACO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100">
                <a:solidFill>
                  <a:srgbClr val="7C8B92"/>
                </a:solidFill>
                <a:latin typeface="Segoe UI"/>
              </a:rPr>
              <a:t>RELATÓRIO MENSAL · MAIO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16242D"/>
                </a:solidFill>
                <a:latin typeface="Consolas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68580" cy="786384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42062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240">
                <a:solidFill>
                  <a:srgbClr val="E08A2B"/>
                </a:solidFill>
                <a:latin typeface="Segoe UI Semibold"/>
              </a:rPr>
              <a:t>HISTÓRICO · VENDA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42D"/>
                </a:solidFill>
                <a:latin typeface="Segoe UI Semibold"/>
              </a:rPr>
              <a:t>Vendas OUT — 2026 (Jan a Mai)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27632"/>
          <a:ext cx="10341864" cy="3813048"/>
        </p:xfrm>
        <a:graphic>
          <a:graphicData uri="http://schemas.openxmlformats.org/drawingml/2006/table">
            <a:tbl>
              <a:tblPr firstRow="0" bandRow="0"/>
              <a:tblGrid>
                <a:gridCol w="960120"/>
                <a:gridCol w="3246120"/>
                <a:gridCol w="713232"/>
                <a:gridCol w="713232"/>
                <a:gridCol w="713232"/>
                <a:gridCol w="713232"/>
                <a:gridCol w="713232"/>
                <a:gridCol w="1143000"/>
                <a:gridCol w="1426464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CÓD.</a:t>
                      </a:r>
                    </a:p>
                  </a:txBody>
                  <a:tcPr marL="73152" marR="73152" marT="18288" marB="18288" anchor="ctr">
                    <a:solidFill>
                      <a:srgbClr val="E08A2B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PRODUTO</a:t>
                      </a:r>
                    </a:p>
                  </a:txBody>
                  <a:tcPr marL="73152" marR="73152" marT="18288" marB="18288" anchor="ctr">
                    <a:solidFill>
                      <a:srgbClr val="E08A2B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JAN</a:t>
                      </a:r>
                    </a:p>
                  </a:txBody>
                  <a:tcPr marL="73152" marR="73152" marT="18288" marB="18288" anchor="ctr">
                    <a:solidFill>
                      <a:srgbClr val="E08A2B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FEV</a:t>
                      </a:r>
                    </a:p>
                  </a:txBody>
                  <a:tcPr marL="73152" marR="73152" marT="18288" marB="18288" anchor="ctr">
                    <a:solidFill>
                      <a:srgbClr val="E08A2B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MAR</a:t>
                      </a:r>
                    </a:p>
                  </a:txBody>
                  <a:tcPr marL="73152" marR="73152" marT="18288" marB="18288" anchor="ctr">
                    <a:solidFill>
                      <a:srgbClr val="E08A2B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ABR</a:t>
                      </a:r>
                    </a:p>
                  </a:txBody>
                  <a:tcPr marL="73152" marR="73152" marT="18288" marB="18288" anchor="ctr">
                    <a:solidFill>
                      <a:srgbClr val="E08A2B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MAI</a:t>
                      </a:r>
                    </a:p>
                  </a:txBody>
                  <a:tcPr marL="73152" marR="73152" marT="18288" marB="18288" anchor="ctr">
                    <a:solidFill>
                      <a:srgbClr val="E08A2B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CAIXAS</a:t>
                      </a:r>
                    </a:p>
                  </a:txBody>
                  <a:tcPr marL="73152" marR="73152" marT="18288" marB="18288" anchor="ctr">
                    <a:solidFill>
                      <a:srgbClr val="E08A2B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CARTEIRA (R$)</a:t>
                      </a:r>
                    </a:p>
                  </a:txBody>
                  <a:tcPr marL="73152" marR="73152" marT="18288" marB="18288" anchor="ctr">
                    <a:solidFill>
                      <a:srgbClr val="E08A2B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4386 / 4387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Gudang Garam 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170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188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120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638,00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306.240,00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4586 / 4587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Gudang Garam Green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34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40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125,00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60.000,00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4399 / 4400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Ignite Kretec Mint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1980 / 1966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Cretec CE TT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1,00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500,00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2780 / 2779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Cretec Menthol TT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5,00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2.500,00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4938 / 4939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Gudang Garam Twin Ten Red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–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4940 / 4941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Cretec Cereja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4942 / 4943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Cretec Menta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–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74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75,00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37.500,00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4113 / 4114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Clean Click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40,00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19.200,00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A4A52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TOTAL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120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217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223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100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224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884,00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425.940,00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263640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C8B92"/>
                </a:solidFill>
                <a:latin typeface="Segoe UI"/>
              </a:rPr>
              <a:t>Coluna MAI destacada · “–” indica produto ainda não lançado no mês · Carteira em R$.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55096" cy="1143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0E7C86"/>
                </a:solidFill>
                <a:latin typeface="Segoe UI Semibold"/>
              </a:rPr>
              <a:t>CLEANTABACO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100">
                <a:solidFill>
                  <a:srgbClr val="7C8B92"/>
                </a:solidFill>
                <a:latin typeface="Segoe UI"/>
              </a:rPr>
              <a:t>RELATÓRIO MENSAL · MAIO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16242D"/>
                </a:solidFill>
                <a:latin typeface="Consolas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68580" cy="786384"/>
          </a:xfrm>
          <a:prstGeom prst="rect">
            <a:avLst/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42062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240">
                <a:solidFill>
                  <a:srgbClr val="2E6FA3"/>
                </a:solidFill>
                <a:latin typeface="Segoe UI Semibold"/>
              </a:rPr>
              <a:t>HISTÓRICO ·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42D"/>
                </a:solidFill>
                <a:latin typeface="Segoe UI Semibold"/>
              </a:rPr>
              <a:t>Produção — 2026 (Jan a Mai)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27632"/>
          <a:ext cx="10341864" cy="3813048"/>
        </p:xfrm>
        <a:graphic>
          <a:graphicData uri="http://schemas.openxmlformats.org/drawingml/2006/table">
            <a:tbl>
              <a:tblPr firstRow="0" bandRow="0"/>
              <a:tblGrid>
                <a:gridCol w="960120"/>
                <a:gridCol w="3246120"/>
                <a:gridCol w="713232"/>
                <a:gridCol w="713232"/>
                <a:gridCol w="713232"/>
                <a:gridCol w="713232"/>
                <a:gridCol w="713232"/>
                <a:gridCol w="1143000"/>
                <a:gridCol w="1426464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CÓD.</a:t>
                      </a:r>
                    </a:p>
                  </a:txBody>
                  <a:tcPr marL="73152" marR="73152" marT="18288" marB="18288" anchor="ctr">
                    <a:solidFill>
                      <a:srgbClr val="2E6FA3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PRODUTO</a:t>
                      </a:r>
                    </a:p>
                  </a:txBody>
                  <a:tcPr marL="73152" marR="73152" marT="18288" marB="18288" anchor="ctr">
                    <a:solidFill>
                      <a:srgbClr val="2E6FA3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JAN</a:t>
                      </a:r>
                    </a:p>
                  </a:txBody>
                  <a:tcPr marL="73152" marR="73152" marT="18288" marB="18288" anchor="ctr">
                    <a:solidFill>
                      <a:srgbClr val="2E6FA3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FEV</a:t>
                      </a:r>
                    </a:p>
                  </a:txBody>
                  <a:tcPr marL="73152" marR="73152" marT="18288" marB="18288" anchor="ctr">
                    <a:solidFill>
                      <a:srgbClr val="2E6FA3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MAR</a:t>
                      </a:r>
                    </a:p>
                  </a:txBody>
                  <a:tcPr marL="73152" marR="73152" marT="18288" marB="18288" anchor="ctr">
                    <a:solidFill>
                      <a:srgbClr val="2E6FA3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ABR</a:t>
                      </a:r>
                    </a:p>
                  </a:txBody>
                  <a:tcPr marL="73152" marR="73152" marT="18288" marB="18288" anchor="ctr">
                    <a:solidFill>
                      <a:srgbClr val="2E6FA3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MAI</a:t>
                      </a:r>
                    </a:p>
                  </a:txBody>
                  <a:tcPr marL="73152" marR="73152" marT="18288" marB="18288" anchor="ctr">
                    <a:solidFill>
                      <a:srgbClr val="2E6FA3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CAIXAS</a:t>
                      </a:r>
                    </a:p>
                  </a:txBody>
                  <a:tcPr marL="73152" marR="73152" marT="18288" marB="18288" anchor="ctr">
                    <a:solidFill>
                      <a:srgbClr val="2E6FA3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CARTEIRA (R$)</a:t>
                      </a:r>
                    </a:p>
                  </a:txBody>
                  <a:tcPr marL="73152" marR="73152" marT="18288" marB="18288" anchor="ctr">
                    <a:solidFill>
                      <a:srgbClr val="2E6FA3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4386 / 4387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Gudang Garam 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812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365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501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1.550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1.279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4.507,00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2.163.360,00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4586 / 4587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Gudang Garam Green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101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146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121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102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570,00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273.600,00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4399 / 4400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Ignite Kretec Mint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1980 / 1966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Cretec CE TT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34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34,00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17.000,00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2780 / 2779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Cretec Menthol TT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117,00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58.500,00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4938 / 4939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Gudang Garam Twin Ten Red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95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95,00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47.500,00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4940 / 4941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Cretec Cereja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28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66,00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33.000,00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4942 / 4943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El Poncio Cretec Menta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99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105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131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57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392,00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196.000,00</a:t>
                      </a:r>
                    </a:p>
                  </a:txBody>
                  <a:tcPr marL="73152" marR="73152" marT="18288" marB="18288" anchor="ctr">
                    <a:solidFill>
                      <a:srgbClr val="EEF3F4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7C8B92"/>
                          </a:solidFill>
                          <a:latin typeface="Consolas"/>
                        </a:rPr>
                        <a:t>4113 / 4114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42D"/>
                          </a:solidFill>
                          <a:latin typeface="Segoe UI"/>
                        </a:rPr>
                        <a:t>Clean Click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81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2F0F1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42D"/>
                          </a:solidFill>
                          <a:latin typeface="Consolas"/>
                        </a:rPr>
                        <a:t>81,00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A4A52"/>
                          </a:solidFill>
                          <a:latin typeface="Consolas"/>
                        </a:rPr>
                        <a:t>38.880,00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A4A52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TOTAL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1.145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564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875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1.834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1.444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5.862,00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</a:rPr>
                        <a:t>2.827.840,00</a:t>
                      </a:r>
                    </a:p>
                  </a:txBody>
                  <a:tcPr marL="73152" marR="73152" marT="18288" marB="18288" anchor="ctr">
                    <a:solidFill>
                      <a:srgbClr val="16242D"/>
                    </a:solidFill>
                    <a:lnB w="9525" cap="flat">
                      <a:solidFill>
                        <a:srgbClr val="D4DE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263640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C8B92"/>
                </a:solidFill>
                <a:latin typeface="Segoe UI"/>
              </a:rPr>
              <a:t>Coluna MAI destacada · “–” indica produto ainda não lançado no mês · Carteira em R$.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55096" cy="11430"/>
          </a:xfrm>
          <a:prstGeom prst="rect">
            <a:avLst/>
          </a:prstGeom>
          <a:solidFill>
            <a:srgbClr val="E1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0E7C86"/>
                </a:solidFill>
                <a:latin typeface="Segoe UI Semibold"/>
              </a:rPr>
              <a:t>CLEANTABACO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100">
                <a:solidFill>
                  <a:srgbClr val="7C8B92"/>
                </a:solidFill>
                <a:latin typeface="Segoe UI"/>
              </a:rPr>
              <a:t>RELATÓRIO MENSAL · MAIO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16242D"/>
                </a:solidFill>
                <a:latin typeface="Consolas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 Vendas &amp; Produção — Maio 2026</dc:title>
  <dc:subject>Vendas IN/OUT, Produção e Estoque — Maio 2026</dc:subject>
  <dc:creator>CleanTabaco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